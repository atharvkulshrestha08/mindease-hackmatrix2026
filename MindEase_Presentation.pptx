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Mokoto Glitch 1" panose="020B0604020202020204" charset="0"/>
      <p:regular r:id="rId13"/>
    </p:embeddedFont>
    <p:embeddedFont>
      <p:font typeface="Norwes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3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1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315294" y="4229584"/>
            <a:ext cx="4573306" cy="241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9"/>
              </a:lnSpc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HACK</a:t>
            </a:r>
          </a:p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24345" y="1142405"/>
            <a:ext cx="5290055" cy="1176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sz="7200" b="1" dirty="0">
                <a:solidFill>
                  <a:srgbClr val="A5EB23"/>
                </a:solidFill>
              </a:rPr>
              <a:t>MindEase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2400301"/>
            <a:ext cx="8825483" cy="5400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800" b="0" dirty="0">
                <a:solidFill>
                  <a:srgbClr val="A5EB23"/>
                </a:solidFill>
              </a:rPr>
              <a:t>Problem Statement: PS-XX</a:t>
            </a: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Domain: Healthcare</a:t>
            </a: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Team - MindEase</a:t>
            </a:r>
            <a:br>
              <a:rPr sz="6000" dirty="0"/>
            </a:b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Atharv Kulshrestha</a:t>
            </a: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Project Lead • AI Integration • UI/UX</a:t>
            </a:r>
            <a:br>
              <a:rPr sz="6000" dirty="0"/>
            </a:b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Avika Tanwar</a:t>
            </a:r>
            <a:br>
              <a:rPr sz="6000" dirty="0"/>
            </a:br>
            <a:r>
              <a:rPr sz="4800" b="0" dirty="0">
                <a:solidFill>
                  <a:srgbClr val="A5EB23"/>
                </a:solidFill>
              </a:rPr>
              <a:t>Frontend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937" y="3424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33126" y="3242639"/>
            <a:ext cx="3336139" cy="2996647"/>
            <a:chOff x="0" y="0"/>
            <a:chExt cx="90488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33126" y="1276584"/>
            <a:ext cx="4985039" cy="1195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sz="3100" b="1">
                <a:solidFill>
                  <a:srgbClr val="A5EB23"/>
                </a:solidFill>
              </a:rPr>
              <a:t>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055614" y="3242639"/>
            <a:ext cx="3336139" cy="2996647"/>
            <a:chOff x="0" y="0"/>
            <a:chExt cx="904882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97153" y="3242639"/>
            <a:ext cx="3336139" cy="2996647"/>
            <a:chOff x="0" y="0"/>
            <a:chExt cx="904882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06918" y="3438603"/>
            <a:ext cx="3188553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3600" b="0" dirty="0">
                <a:solidFill>
                  <a:srgbClr val="A5EB23"/>
                </a:solidFill>
              </a:rPr>
              <a:t>Daily stress is often managed only after it becomes overwhelming.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870" y="3273071"/>
            <a:ext cx="3600329" cy="2653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2800" b="0" dirty="0">
                <a:solidFill>
                  <a:srgbClr val="A5EB23"/>
                </a:solidFill>
              </a:rPr>
              <a:t>Mental wellness tools are </a:t>
            </a:r>
            <a:r>
              <a:rPr lang="en-IN" sz="2800" b="0" dirty="0">
                <a:solidFill>
                  <a:srgbClr val="A5EB23"/>
                </a:solidFill>
              </a:rPr>
              <a:t>fragmented</a:t>
            </a:r>
            <a:r>
              <a:rPr sz="2800" b="0" dirty="0">
                <a:solidFill>
                  <a:srgbClr val="A5EB23"/>
                </a:solidFill>
              </a:rPr>
              <a:t> across journaling, mood tracking, meditation, and support.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58400" y="3428475"/>
            <a:ext cx="3474892" cy="266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3200" b="0" dirty="0">
                <a:solidFill>
                  <a:srgbClr val="A5EB23"/>
                </a:solidFill>
              </a:rPr>
              <a:t>Students and young professionals need low-friction habits they can sustain every day.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3126" y="6392231"/>
            <a:ext cx="10987180" cy="210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400" b="0" dirty="0">
                <a:solidFill>
                  <a:srgbClr val="A5EB23"/>
                </a:solidFill>
              </a:rPr>
              <a:t>Who is affected?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Primary Users → Students &amp; young professionals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Secondary Stakeholders → Families, educators &amp; wellness teams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Broader Impact → Better emotional awareness and healthier daily coping habits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3126" y="8293800"/>
            <a:ext cx="498233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400" b="1">
                <a:solidFill>
                  <a:srgbClr val="A5EB23"/>
                </a:solidFill>
              </a:rPr>
              <a:t>Problem Statement ID: PS-XX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1"/>
            <a:ext cx="23893673" cy="1357785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69229" y="1180505"/>
            <a:ext cx="9106230" cy="901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66"/>
              </a:lnSpc>
              <a:spcBef>
                <a:spcPct val="0"/>
              </a:spcBef>
            </a:pPr>
            <a:r>
              <a:rPr sz="2800" b="1" dirty="0">
                <a:solidFill>
                  <a:srgbClr val="A5EB23"/>
                </a:solidFill>
              </a:rPr>
              <a:t>WHY THIS PROBLEM EXISTS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169228" y="2862464"/>
            <a:ext cx="2936171" cy="2433435"/>
            <a:chOff x="0" y="0"/>
            <a:chExt cx="90488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85413" y="2959444"/>
            <a:ext cx="27038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chemeClr val="bg1"/>
                </a:solidFill>
              </a:rPr>
              <a:t>• Mental wellness is often addressed only after stress or emotional problems become serious.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</a:rPr>
              <a:t>• Students and young professionals face academic pressure, work stress, social pressure, and emotional overload on a daily basis.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936397" y="2862465"/>
            <a:ext cx="2936171" cy="2433434"/>
            <a:chOff x="0" y="0"/>
            <a:chExt cx="90488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40888" y="2941156"/>
            <a:ext cx="272211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• Existing wellness tools are often fragmented across separate apps for journaling, mood tracking, meditation, music, and support.</a:t>
            </a:r>
          </a:p>
          <a:p>
            <a:r>
              <a:rPr lang="en-IN" dirty="0">
                <a:solidFill>
                  <a:schemeClr val="bg1"/>
                </a:solidFill>
              </a:rPr>
              <a:t>• This makes consistent daily use difficult and reduces long-term engagement.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46458" y="2862464"/>
            <a:ext cx="2750341" cy="2495765"/>
            <a:chOff x="0" y="0"/>
            <a:chExt cx="90488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29800" y="2936265"/>
            <a:ext cx="260331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• Users often lack a simple way to understand their emotional patterns and identify which wellness activities actually help them.</a:t>
            </a:r>
          </a:p>
          <a:p>
            <a:r>
              <a:rPr lang="en-IN" sz="1600" dirty="0">
                <a:solidFill>
                  <a:schemeClr val="bg1"/>
                </a:solidFill>
              </a:rPr>
              <a:t>• MindEase addresses this gap by bringing daily emotional check-ins, reflection, wellness activities, and personalized guidance into one platform.</a:t>
            </a:r>
          </a:p>
        </p:txBody>
      </p:sp>
      <p:sp>
        <p:nvSpPr>
          <p:cNvPr id="16" name="TextBox 16"/>
          <p:cNvSpPr txBox="1"/>
          <p:nvPr/>
        </p:nvSpPr>
        <p:spPr>
          <a:xfrm rot="5400000">
            <a:off x="2612567" y="5180472"/>
            <a:ext cx="661569" cy="101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1"/>
              </a:lnSpc>
              <a:spcBef>
                <a:spcPct val="0"/>
              </a:spcBef>
            </a:pPr>
            <a:r>
              <a:rPr lang="en-US" sz="5986" dirty="0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34809" y="5995569"/>
            <a:ext cx="291307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sz="2400" b="0" dirty="0">
                <a:solidFill>
                  <a:srgbClr val="A5EB23"/>
                </a:solidFill>
              </a:rPr>
              <a:t>Wellness is often treated as a response to distress rather than a daily practice.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64438" y="5995569"/>
            <a:ext cx="365597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sz="2400" b="0" dirty="0">
                <a:solidFill>
                  <a:srgbClr val="A5EB23"/>
                </a:solidFill>
              </a:rPr>
              <a:t>Users switch between disconnected tools for mood, reflection, relaxation and support.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0481" y="5995569"/>
            <a:ext cx="218349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sz="2000" b="0" dirty="0">
                <a:solidFill>
                  <a:srgbClr val="A5EB23"/>
                </a:solidFill>
              </a:rPr>
              <a:t>Without consistent habits, users get less visibility into their emotional patterns.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7882" y="5814601"/>
            <a:ext cx="507006" cy="77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44875" y="5814601"/>
            <a:ext cx="507006" cy="77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4809" y="7318319"/>
            <a:ext cx="9589835" cy="1389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2"/>
              </a:lnSpc>
            </a:pPr>
            <a:r>
              <a:rPr sz="1400" b="0">
                <a:solidFill>
                  <a:srgbClr val="A5EB23"/>
                </a:solidFill>
              </a:rPr>
              <a:t>Current Approach:</a:t>
            </a:r>
            <a:br/>
            <a:r>
              <a:rPr sz="1400" b="0">
                <a:solidFill>
                  <a:srgbClr val="A5EB23"/>
                </a:solidFill>
              </a:rPr>
              <a:t>Reactive support → fragmented experiences → friction → inconsistent use → limited long-term habit building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97174" y="1202869"/>
            <a:ext cx="5162160" cy="922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64"/>
              </a:lnSpc>
              <a:spcBef>
                <a:spcPct val="0"/>
              </a:spcBef>
            </a:pPr>
            <a:r>
              <a:rPr sz="2800" b="1">
                <a:solidFill>
                  <a:srgbClr val="A5EB23"/>
                </a:solidFill>
              </a:rPr>
              <a:t>OUR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7174" y="2415049"/>
            <a:ext cx="13301588" cy="1620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0" dirty="0">
                <a:solidFill>
                  <a:srgbClr val="A5EB23"/>
                </a:solidFill>
              </a:rPr>
              <a:t>INTRODUCING MINDEASE 2.0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MindEase helps students and young professionals build daily mental-fitness habits by combining mood tracking, reflection, wellness activities and personalized AI guidance.</a:t>
            </a:r>
            <a:br>
              <a:rPr sz="2400" dirty="0"/>
            </a:br>
            <a:endParaRPr sz="2400" dirty="0"/>
          </a:p>
        </p:txBody>
      </p:sp>
      <p:sp>
        <p:nvSpPr>
          <p:cNvPr id="5" name="TextBox 5"/>
          <p:cNvSpPr txBox="1"/>
          <p:nvPr/>
        </p:nvSpPr>
        <p:spPr>
          <a:xfrm>
            <a:off x="2397174" y="3938258"/>
            <a:ext cx="4212546" cy="4168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sz="2400" b="0" dirty="0">
                <a:solidFill>
                  <a:srgbClr val="A5EB23"/>
                </a:solidFill>
              </a:rPr>
              <a:t>USER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Mood / Journal / Activity input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MINDEASE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Context + mood history + wellness tools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Personalized guidance &amp; actionable activities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Healthier daily habits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2242" y="4098165"/>
            <a:ext cx="6012400" cy="551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8"/>
              </a:lnSpc>
            </a:pPr>
            <a:r>
              <a:rPr sz="2800" b="0" dirty="0">
                <a:solidFill>
                  <a:srgbClr val="A5EB23"/>
                </a:solidFill>
              </a:rPr>
              <a:t>CORE CAPABILITIES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01  Emotional check-ins</a:t>
            </a: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Track mood and see patterns over time.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02  Guided reflection</a:t>
            </a: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Journal privately with prompts and AI-assisted reflection.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03  Personalized wellness</a:t>
            </a:r>
            <a:br>
              <a:rPr sz="2800" dirty="0"/>
            </a:br>
            <a:r>
              <a:rPr sz="2800" b="0" dirty="0">
                <a:solidFill>
                  <a:srgbClr val="A5EB23"/>
                </a:solidFill>
              </a:rPr>
              <a:t>Connect insights with breathing, music, focus and AI support.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8402985"/>
            <a:ext cx="5162160" cy="1350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sz="2400" b="0" dirty="0">
                <a:solidFill>
                  <a:srgbClr val="A5EB23"/>
                </a:solidFill>
              </a:rPr>
              <a:t>Three capabilities are highlighted because they form the core daily wellness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79700" y="1202869"/>
            <a:ext cx="12266306" cy="909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43"/>
              </a:lnSpc>
              <a:spcBef>
                <a:spcPct val="0"/>
              </a:spcBef>
            </a:pPr>
            <a:r>
              <a:rPr sz="2800" b="1">
                <a:solidFill>
                  <a:srgbClr val="A5EB23"/>
                </a:solidFill>
              </a:rPr>
              <a:t>PROTOTYPE / PRODUCT EXPERIENCE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1983" y="2834831"/>
            <a:ext cx="412724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400" b="1">
                <a:solidFill>
                  <a:srgbClr val="A5EB23"/>
                </a:solidFill>
              </a:rPr>
              <a:t>Landing Experience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1983" y="5086350"/>
            <a:ext cx="412724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400" b="1">
                <a:solidFill>
                  <a:srgbClr val="A5EB23"/>
                </a:solidFill>
              </a:rPr>
              <a:t>Dashboard Experience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5650" y="2863406"/>
            <a:ext cx="4699150" cy="6082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7"/>
              </a:lnSpc>
            </a:pPr>
            <a:r>
              <a:rPr sz="2000" b="0" dirty="0">
                <a:solidFill>
                  <a:srgbClr val="A5EB23"/>
                </a:solidFill>
              </a:rPr>
              <a:t>USER JOURNEY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01 — INPUT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User checks in with a mood and can journal or choose a wellness activity.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02 — PROCESS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MindEase organizes mood context, history and available wellness actions.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03 — OUTPUT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The user receives a personalized dashboard, activity options and AI support.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04 — ACTION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The user completes an activity, reflects, and returns for the next daily check-in.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7877923"/>
            <a:ext cx="5113909" cy="1572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sz="2400" b="0" dirty="0">
                <a:solidFill>
                  <a:srgbClr val="A5EB23"/>
                </a:solidFill>
              </a:rPr>
              <a:t>Current prototype demonstrates the landing experience, mood check-in, dashboard, journal, music, breathing and AI Chat entry points.</a:t>
            </a:r>
          </a:p>
        </p:txBody>
      </p:sp>
      <p:pic>
        <p:nvPicPr>
          <p:cNvPr id="8" name="Picture 7" descr="_crop_6bbc1611-a1fd-40a6-8e20-460f831c56e6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337560"/>
            <a:ext cx="4297680" cy="1828800"/>
          </a:xfrm>
          <a:prstGeom prst="rect">
            <a:avLst/>
          </a:prstGeom>
        </p:spPr>
      </p:pic>
      <p:pic>
        <p:nvPicPr>
          <p:cNvPr id="9" name="Picture 8" descr="_crop_56bedf39-0b0f-4e21-93b8-6d53de8a8fc7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5532120"/>
            <a:ext cx="42976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92463" y="1208530"/>
            <a:ext cx="10420542" cy="9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  <a:spcBef>
                <a:spcPct val="0"/>
              </a:spcBef>
            </a:pPr>
            <a:r>
              <a:rPr sz="2800" b="1">
                <a:solidFill>
                  <a:srgbClr val="A5EB23"/>
                </a:solidFill>
              </a:rPr>
              <a:t>WHAT MAKES US DIFFERENT?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2463" y="2722492"/>
            <a:ext cx="422174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 dirty="0">
                <a:solidFill>
                  <a:srgbClr val="A5EB23"/>
                </a:solidFill>
              </a:rPr>
              <a:t>WHY THIS APPROACH?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92463" y="3564837"/>
            <a:ext cx="9570937" cy="341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8"/>
              </a:lnSpc>
            </a:pPr>
            <a:r>
              <a:rPr sz="2000" b="0" dirty="0">
                <a:solidFill>
                  <a:srgbClr val="A5EB23"/>
                </a:solidFill>
              </a:rPr>
              <a:t>Dimension                         Existing approach       MindEase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Daily habit loop                  Often fragmented       ✓ Integrated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Mood tracking + reflection        Separate tools         ✓ Connected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Wellness activities               Standalone tools        ✓ In one flow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Personal context                  Limited continuity      ✓ Mood history + journal context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Progress visibility               Basic / scattered       ✓ Dashboard &amp; trend view</a:t>
            </a:r>
            <a:br>
              <a:rPr sz="2000" dirty="0"/>
            </a:br>
            <a:r>
              <a:rPr sz="2000" b="0" dirty="0">
                <a:solidFill>
                  <a:srgbClr val="A5EB23"/>
                </a:solidFill>
              </a:rPr>
              <a:t>Low-friction daily use            Varies                  ✓ Designed around short daily sessions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2463" y="7987127"/>
            <a:ext cx="9875446" cy="1293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sz="2800" b="0" dirty="0">
                <a:solidFill>
                  <a:srgbClr val="A5EB23"/>
                </a:solidFill>
              </a:rPr>
              <a:t>The differentiation is the connected workflow, not the use of AI alone. MindEase combines emotional check-ins, reflection, wellness actions and progress tracking into one daily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00200" y="3259075"/>
            <a:ext cx="2977898" cy="513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sz="1400" b="0" dirty="0">
                <a:solidFill>
                  <a:srgbClr val="A5EB23"/>
                </a:solidFill>
              </a:rPr>
              <a:t>CURRENT IMPLEMENTATION</a:t>
            </a:r>
            <a:br>
              <a:rPr sz="1400" dirty="0"/>
            </a:b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Frontend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React + Vite + JavaScript + CSS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State / App Context</a:t>
            </a:r>
            <a:br>
              <a:rPr sz="1400" dirty="0"/>
            </a:br>
            <a:r>
              <a:rPr sz="1400" b="0" dirty="0" err="1">
                <a:solidFill>
                  <a:srgbClr val="A5EB23"/>
                </a:solidFill>
              </a:rPr>
              <a:t>Context</a:t>
            </a:r>
            <a:r>
              <a:rPr sz="1400" b="0" dirty="0">
                <a:solidFill>
                  <a:srgbClr val="A5EB23"/>
                </a:solidFill>
              </a:rPr>
              <a:t> API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Persistence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Browser Local Storage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Visualization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Recharts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AI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OpenAI API integration</a:t>
            </a:r>
            <a:br>
              <a:rPr sz="1400" dirty="0"/>
            </a:b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PLANNED / FUTURE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Backend: </a:t>
            </a:r>
            <a:r>
              <a:rPr sz="1400" b="0" dirty="0" err="1">
                <a:solidFill>
                  <a:srgbClr val="A5EB23"/>
                </a:solidFill>
              </a:rPr>
              <a:t>FastAPI</a:t>
            </a:r>
            <a:r>
              <a:rPr sz="1400" b="0" dirty="0">
                <a:solidFill>
                  <a:srgbClr val="A5EB23"/>
                </a:solidFill>
              </a:rPr>
              <a:t> + Python</a:t>
            </a:r>
            <a:br>
              <a:rPr sz="1400" dirty="0"/>
            </a:br>
            <a:r>
              <a:rPr sz="1400" b="0" dirty="0">
                <a:solidFill>
                  <a:srgbClr val="A5EB23"/>
                </a:solidFill>
              </a:rPr>
              <a:t>Database: </a:t>
            </a:r>
            <a:r>
              <a:rPr sz="1400" b="0" dirty="0" err="1">
                <a:solidFill>
                  <a:srgbClr val="A5EB23"/>
                </a:solidFill>
              </a:rPr>
              <a:t>Supabase</a:t>
            </a:r>
            <a:endParaRPr sz="1400" b="0" dirty="0">
              <a:solidFill>
                <a:srgbClr val="A5EB23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62574" y="2314575"/>
            <a:ext cx="9241746" cy="920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8"/>
              </a:lnSpc>
            </a:pPr>
            <a:r>
              <a:rPr sz="2000" b="0" dirty="0">
                <a:solidFill>
                  <a:srgbClr val="A5EB23"/>
                </a:solidFill>
              </a:rPr>
              <a:t>Technologies are separated into current implementation and planned architecture to avoid overstating the prototype.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2574" y="8617963"/>
            <a:ext cx="709648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Only list technologies that are genuinely part of the implementation.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92893" y="2076450"/>
            <a:ext cx="423159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500" b="1">
                <a:solidFill>
                  <a:srgbClr val="A5EB23"/>
                </a:solidFill>
              </a:rPr>
              <a:t>CURRENT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0" y="2697480"/>
            <a:ext cx="2743200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USER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12847320" y="3300984"/>
            <a:ext cx="411480" cy="292608"/>
          </a:xfrm>
          <a:prstGeom prst="downArrow">
            <a:avLst/>
          </a:prstGeom>
          <a:solidFill>
            <a:srgbClr val="A5E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704320" y="3547872"/>
            <a:ext cx="3749039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REACT UI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847320" y="4151376"/>
            <a:ext cx="411480" cy="292608"/>
          </a:xfrm>
          <a:prstGeom prst="downArrow">
            <a:avLst/>
          </a:prstGeom>
          <a:solidFill>
            <a:srgbClr val="A5E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704320" y="4398264"/>
            <a:ext cx="3840480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MOOD / JOURNAL / ACTIVITY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2847320" y="5001768"/>
            <a:ext cx="411480" cy="292608"/>
          </a:xfrm>
          <a:prstGeom prst="downArrow">
            <a:avLst/>
          </a:prstGeom>
          <a:solidFill>
            <a:srgbClr val="A5E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704320" y="5248656"/>
            <a:ext cx="3840480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CONTEXT + LOCAL STORAGE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847320" y="5852160"/>
            <a:ext cx="411480" cy="292608"/>
          </a:xfrm>
          <a:prstGeom prst="downArrow">
            <a:avLst/>
          </a:prstGeom>
          <a:solidFill>
            <a:srgbClr val="A5E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704320" y="6099048"/>
            <a:ext cx="3657600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AI / INSIGHTS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2847320" y="6702552"/>
            <a:ext cx="411480" cy="292608"/>
          </a:xfrm>
          <a:prstGeom prst="downArrow">
            <a:avLst/>
          </a:prstGeom>
          <a:solidFill>
            <a:srgbClr val="A5E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704320" y="6949440"/>
            <a:ext cx="3840480" cy="566928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DCF5BE"/>
                </a:solidFill>
              </a:rPr>
              <a:t>ACTIONABLE WELLNESS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EB1D794-AA10-A5C2-7F5F-807DDB18E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50201"/>
            <a:ext cx="9547163" cy="1347333"/>
          </a:xfrm>
          <a:prstGeom prst="rect">
            <a:avLst/>
          </a:prstGeom>
        </p:spPr>
      </p:pic>
      <p:sp>
        <p:nvSpPr>
          <p:cNvPr id="27" name="TextBox 6">
            <a:extLst>
              <a:ext uri="{FF2B5EF4-FFF2-40B4-BE49-F238E27FC236}">
                <a16:creationId xmlns:a16="http://schemas.microsoft.com/office/drawing/2014/main" id="{1BFEEC1B-89FF-195C-4D6E-38BD2626BF1F}"/>
              </a:ext>
            </a:extLst>
          </p:cNvPr>
          <p:cNvSpPr txBox="1"/>
          <p:nvPr/>
        </p:nvSpPr>
        <p:spPr>
          <a:xfrm>
            <a:off x="5181601" y="3447288"/>
            <a:ext cx="8167882" cy="5234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sz="1200" b="0" dirty="0">
                <a:solidFill>
                  <a:srgbClr val="A5EB23"/>
                </a:solidFill>
              </a:rPr>
              <a:t>Technical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Built with mature web technologies: React, Vite and JavaScript.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Current persistence works through browser local storage.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Recharts supports the analytics/dashboard layer.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OpenAI API can support the AI companion layer.</a:t>
            </a:r>
            <a:br>
              <a:rPr sz="1200" dirty="0"/>
            </a:b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Operational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Runs as a web application with no special hardware.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Current MVP focuses on a small, demonstrable daily wellness workflow.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Future backend work can move persistence and authentication to managed services.</a:t>
            </a:r>
            <a:br>
              <a:rPr sz="1200" dirty="0"/>
            </a:b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Hackathon MVP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Landing page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Mood check-in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Dashboard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Journal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Breathing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Music</a:t>
            </a:r>
            <a:br>
              <a:rPr sz="1200" dirty="0"/>
            </a:br>
            <a:r>
              <a:rPr sz="1200" b="0" dirty="0">
                <a:solidFill>
                  <a:srgbClr val="A5EB23"/>
                </a:solidFill>
              </a:rPr>
              <a:t>• AI Chat entry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239598" y="1326051"/>
            <a:ext cx="7426245" cy="948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1"/>
              </a:lnSpc>
              <a:spcBef>
                <a:spcPct val="0"/>
              </a:spcBef>
            </a:pPr>
            <a:r>
              <a:rPr sz="2800" b="1">
                <a:solidFill>
                  <a:srgbClr val="A5EB23"/>
                </a:solidFill>
              </a:rPr>
              <a:t>FEASIBILITY +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71575" y="2708910"/>
            <a:ext cx="2313817" cy="555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600" b="1">
                <a:solidFill>
                  <a:srgbClr val="A5EB23"/>
                </a:solidFill>
              </a:rPr>
              <a:t>FEASIBILITY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7153270" y="2766060"/>
            <a:ext cx="0" cy="6492240"/>
          </a:xfrm>
          <a:prstGeom prst="line">
            <a:avLst/>
          </a:prstGeom>
          <a:ln w="38100" cap="rnd">
            <a:solidFill>
              <a:srgbClr val="98C632"/>
            </a:solidFill>
            <a:prstDash val="solid"/>
            <a:headEnd type="none" w="sm" len="sm"/>
            <a:tailEnd type="none" w="sm" len="sm"/>
          </a:ln>
        </p:spPr>
        <p:txBody>
          <a:bodyPr wrap="square"/>
          <a:lstStyle/>
          <a:p>
            <a:r>
              <a:rPr lang="en-IN" sz="1600" b="1">
                <a:solidFill>
                  <a:srgbClr val="A5EB23"/>
                </a:solidFill>
              </a:rPr>
              <a:t>IMPACT</a:t>
            </a:r>
            <a:endParaRPr lang="en-IN" sz="1600" b="1" dirty="0">
              <a:solidFill>
                <a:srgbClr val="A5EB23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53270" y="3264824"/>
            <a:ext cx="6037984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sz="2400" b="0" dirty="0">
                <a:solidFill>
                  <a:srgbClr val="A5EB23"/>
                </a:solidFill>
              </a:rPr>
              <a:t>Who benefits?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Students and young professionals managing everyday stress and emotional overload.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What improves?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Consistency of emotional check-ins, reflection and access to simple coping activities.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Why does it matter?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A low-friction daily workflow can help users notice patterns earlier and build repeatable wellness habits.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Progression</a:t>
            </a:r>
            <a:br>
              <a:rPr sz="2400" dirty="0"/>
            </a:br>
            <a:r>
              <a:rPr sz="2400" b="0" dirty="0">
                <a:solidFill>
                  <a:srgbClr val="A5EB23"/>
                </a:solidFill>
              </a:rPr>
              <a:t>Prototype → MVP → Pilot → Scale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26017-D7DA-932F-66A3-589758349E35}"/>
              </a:ext>
            </a:extLst>
          </p:cNvPr>
          <p:cNvSpPr txBox="1"/>
          <p:nvPr/>
        </p:nvSpPr>
        <p:spPr>
          <a:xfrm>
            <a:off x="1524000" y="3264824"/>
            <a:ext cx="37338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92D050"/>
                </a:solidFill>
              </a:rPr>
              <a:t>• React, Vite, JavaScript, CSS, Recharts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Local Storage for data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AI Chat interface, OpenAI API planned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</a:t>
            </a:r>
            <a:r>
              <a:rPr lang="en-IN" sz="2000" dirty="0" err="1">
                <a:solidFill>
                  <a:srgbClr val="92D050"/>
                </a:solidFill>
              </a:rPr>
              <a:t>FastAPI</a:t>
            </a:r>
            <a:r>
              <a:rPr lang="en-IN" sz="2000" dirty="0">
                <a:solidFill>
                  <a:srgbClr val="92D050"/>
                </a:solidFill>
              </a:rPr>
              <a:t> + </a:t>
            </a:r>
            <a:r>
              <a:rPr lang="en-IN" sz="2000" dirty="0" err="1">
                <a:solidFill>
                  <a:srgbClr val="92D050"/>
                </a:solidFill>
              </a:rPr>
              <a:t>Supabase</a:t>
            </a:r>
            <a:r>
              <a:rPr lang="en-IN" sz="2000" dirty="0">
                <a:solidFill>
                  <a:srgbClr val="92D050"/>
                </a:solidFill>
              </a:rPr>
              <a:t> planned</a:t>
            </a:r>
          </a:p>
          <a:p>
            <a:r>
              <a:rPr lang="en-IN" sz="2000" dirty="0">
                <a:solidFill>
                  <a:srgbClr val="92D050"/>
                </a:solidFill>
              </a:rPr>
              <a:t>Operational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Web browser + internet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Netlify deployment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No installation required</a:t>
            </a:r>
          </a:p>
          <a:p>
            <a:r>
              <a:rPr lang="en-IN" sz="2000" dirty="0">
                <a:solidFill>
                  <a:srgbClr val="92D050"/>
                </a:solidFill>
              </a:rPr>
              <a:t>Hackathon MVP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Mood tracking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Dashboard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Journal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Breathing activities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Music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AI Chat interface</a:t>
            </a:r>
            <a:br>
              <a:rPr lang="en-IN" sz="2000" dirty="0">
                <a:solidFill>
                  <a:srgbClr val="92D050"/>
                </a:solidFill>
              </a:rPr>
            </a:br>
            <a:r>
              <a:rPr lang="en-IN" sz="2000" dirty="0">
                <a:solidFill>
                  <a:srgbClr val="92D050"/>
                </a:solidFill>
              </a:rPr>
              <a:t>• Basic wellness insights</a:t>
            </a:r>
          </a:p>
          <a:p>
            <a:endParaRPr lang="en-IN" sz="20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312456" y="3785028"/>
            <a:ext cx="902852" cy="0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" name="TextBox 4"/>
          <p:cNvSpPr txBox="1"/>
          <p:nvPr/>
        </p:nvSpPr>
        <p:spPr>
          <a:xfrm>
            <a:off x="6773232" y="2146728"/>
            <a:ext cx="3676171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3200" b="0" dirty="0">
                <a:solidFill>
                  <a:srgbClr val="A5EB23"/>
                </a:solidFill>
              </a:rPr>
              <a:t>NEXT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MVP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Strengthen AI personalization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User testing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Reliability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Security &amp; privacy review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Better analytics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Refine daily wellness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73254" y="2146728"/>
            <a:ext cx="3676171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3200" b="0" dirty="0">
                <a:solidFill>
                  <a:srgbClr val="A5EB23"/>
                </a:solidFill>
              </a:rPr>
              <a:t>LATER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Deployment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Backend services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Secure authentication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Persistent cloud data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Real-world pilot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Analytics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University integrations</a:t>
            </a:r>
          </a:p>
        </p:txBody>
      </p:sp>
      <p:sp>
        <p:nvSpPr>
          <p:cNvPr id="6" name="AutoShape 6"/>
          <p:cNvSpPr/>
          <p:nvPr/>
        </p:nvSpPr>
        <p:spPr>
          <a:xfrm>
            <a:off x="9546551" y="3756453"/>
            <a:ext cx="902852" cy="0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>
            <a:off x="13998232" y="3441687"/>
            <a:ext cx="902385" cy="29031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14800775" y="3314700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80B0E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00628" y="436031"/>
            <a:ext cx="9114634" cy="87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sz="2800" b="1" dirty="0">
                <a:solidFill>
                  <a:srgbClr val="A5EB23"/>
                </a:solidFill>
              </a:rPr>
              <a:t>IMPLEMENTATION ROADMAP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9414" y="2146728"/>
            <a:ext cx="4003042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3200" b="0" dirty="0">
                <a:solidFill>
                  <a:srgbClr val="A5EB23"/>
                </a:solidFill>
              </a:rPr>
              <a:t>NOW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Hackathon Prototype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Functional React/Vite UI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Mood check-in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Dashboard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Journal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Breathing &amp; music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AI Chat interface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✓ Initial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24799" y="1405303"/>
            <a:ext cx="557657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HAPPENS NEXT?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11400" y="2146728"/>
            <a:ext cx="2875475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3200" b="0" dirty="0">
                <a:solidFill>
                  <a:srgbClr val="A5EB23"/>
                </a:solidFill>
              </a:rPr>
              <a:t>SCALE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More users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University wellness programs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More locations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Community features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• Smart notifications</a:t>
            </a:r>
            <a:br>
              <a:rPr sz="3200" dirty="0"/>
            </a:b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Already built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vs.</a:t>
            </a:r>
            <a:br>
              <a:rPr sz="3200" dirty="0"/>
            </a:br>
            <a:r>
              <a:rPr sz="3200" b="0" dirty="0">
                <a:solidFill>
                  <a:srgbClr val="A5EB23"/>
                </a:solidFill>
              </a:rPr>
              <a:t>Planned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0377" y="7298228"/>
            <a:ext cx="8519796" cy="265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Critical point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Clearly separate: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Already built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80" y="228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23468" y="704584"/>
            <a:ext cx="6308744" cy="80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sz="3200" b="1" dirty="0">
                <a:solidFill>
                  <a:srgbClr val="A5EB23"/>
                </a:solidFill>
              </a:rPr>
              <a:t>TEAM</a:t>
            </a:r>
            <a:r>
              <a:rPr lang="en-US" sz="3200" b="1" dirty="0">
                <a:solidFill>
                  <a:srgbClr val="A5EB23"/>
                </a:solidFill>
              </a:rPr>
              <a:t> + EXECUTION</a:t>
            </a:r>
            <a:endParaRPr sz="3200" b="1" dirty="0">
              <a:solidFill>
                <a:srgbClr val="A5EB23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744200" y="2247900"/>
            <a:ext cx="6636386" cy="449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sz="3600" b="0" dirty="0">
                <a:solidFill>
                  <a:srgbClr val="A5EB23"/>
                </a:solidFill>
              </a:rPr>
              <a:t>Why this team can execute the solution</a:t>
            </a:r>
            <a:br>
              <a:rPr sz="3600" dirty="0"/>
            </a:br>
            <a:r>
              <a:rPr sz="3600" b="0" dirty="0">
                <a:solidFill>
                  <a:srgbClr val="A5EB23"/>
                </a:solidFill>
              </a:rPr>
              <a:t>The team combines product ownership, frontend engineering, UI/UX and AI integration to turn MindEase from a concept into a functional web prototype and continue it toward a testable MVP.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38300"/>
            <a:ext cx="6918960" cy="5996940"/>
          </a:xfrm>
          <a:prstGeom prst="rect">
            <a:avLst/>
          </a:prstGeom>
          <a:solidFill>
            <a:srgbClr val="090E0E"/>
          </a:solidFill>
          <a:ln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51760" y="4023360"/>
            <a:ext cx="2926080" cy="3291840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DCF5BE"/>
                </a:solidFill>
              </a:rPr>
              <a:t>ATHARV KULSHRESTHA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Project Lead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AI Integration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UI/UX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Product &amp;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7400" y="4015740"/>
            <a:ext cx="2926080" cy="3291840"/>
          </a:xfrm>
          <a:prstGeom prst="roundRect">
            <a:avLst/>
          </a:prstGeom>
          <a:solidFill>
            <a:srgbClr val="141919"/>
          </a:solidFill>
          <a:ln w="19050">
            <a:solidFill>
              <a:srgbClr val="A5E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DCF5BE"/>
                </a:solidFill>
              </a:rPr>
              <a:t>AVIKA TANWAR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Frontend Developer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React / UI implementation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Frontend integration</a:t>
            </a:r>
            <a:br>
              <a:rPr sz="2400" dirty="0"/>
            </a:br>
            <a:r>
              <a:rPr sz="2400" b="1" dirty="0">
                <a:solidFill>
                  <a:srgbClr val="DCF5BE"/>
                </a:solidFill>
              </a:rPr>
              <a:t>Product experience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BF0EF1-CAB7-F783-C463-0DE97D0528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467" y="1862497"/>
            <a:ext cx="1936666" cy="1936666"/>
          </a:xfrm>
          <a:prstGeom prst="rect">
            <a:avLst/>
          </a:prstGeom>
        </p:spPr>
      </p:pic>
      <p:pic>
        <p:nvPicPr>
          <p:cNvPr id="12" name="Picture 11" descr="avikkaaa_23's profile picture">
            <a:extLst>
              <a:ext uri="{FF2B5EF4-FFF2-40B4-BE49-F238E27FC236}">
                <a16:creationId xmlns:a16="http://schemas.microsoft.com/office/drawing/2014/main" id="{FB37FEAF-8C86-1605-4153-D0FFEA754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62497"/>
            <a:ext cx="1936667" cy="1936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1233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Mokoto Glitch 1</vt:lpstr>
      <vt:lpstr>Calibri</vt:lpstr>
      <vt:lpstr>Helvetica World</vt:lpstr>
      <vt:lpstr>Norwester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MATRIX</dc:title>
  <cp:lastModifiedBy>Atharv Kulshrestha</cp:lastModifiedBy>
  <cp:revision>4</cp:revision>
  <dcterms:created xsi:type="dcterms:W3CDTF">2006-08-16T00:00:00Z</dcterms:created>
  <dcterms:modified xsi:type="dcterms:W3CDTF">2026-08-09T15:37:14Z</dcterms:modified>
  <dc:identifier>DAHRvWOOywY</dc:identifier>
</cp:coreProperties>
</file>